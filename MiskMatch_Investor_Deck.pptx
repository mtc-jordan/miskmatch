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8B1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0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Q4 2025</c:v>
                  </c:pt>
                  <c:pt idx="1">
                    <c:v>Q1 2026</c:v>
                  </c:pt>
                  <c:pt idx="2">
                    <c:v>Q2 2026</c:v>
                  </c:pt>
                  <c:pt idx="3">
                    <c:v>Q3 2026</c:v>
                  </c:pt>
                  <c:pt idx="4">
                    <c:v>Q4 2026</c:v>
                  </c:pt>
                  <c:pt idx="5">
                    <c:v>Q1 2027</c:v>
                  </c:pt>
                  <c:pt idx="6">
                    <c:v>Q2 2027</c:v>
                  </c:pt>
                  <c:pt idx="7">
                    <c:v>Q3 2027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0.08</c:v>
                </c:pt>
                <c:pt idx="1">
                  <c:v>0.22</c:v>
                </c:pt>
                <c:pt idx="2">
                  <c:v>0.45</c:v>
                </c:pt>
                <c:pt idx="3">
                  <c:v>0.82</c:v>
                </c:pt>
                <c:pt idx="4">
                  <c:v>1.35</c:v>
                </c:pt>
                <c:pt idx="5">
                  <c:v>2.1</c:v>
                </c:pt>
                <c:pt idx="6">
                  <c:v>3.2</c:v>
                </c:pt>
                <c:pt idx="7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0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D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1097280"/>
            <a:ext cx="5943600" cy="5943600"/>
          </a:xfrm>
          <a:prstGeom prst="oval">
            <a:avLst/>
          </a:prstGeom>
          <a:solidFill>
            <a:srgbClr val="8B1A4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457200"/>
            <a:ext cx="4389120" cy="4389120"/>
          </a:xfrm>
          <a:prstGeom prst="oval">
            <a:avLst/>
          </a:prstGeom>
          <a:solidFill>
            <a:srgbClr val="8B1A4A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2194560" cy="2194560"/>
          </a:xfrm>
          <a:prstGeom prst="oval">
            <a:avLst/>
          </a:prstGeom>
          <a:solidFill>
            <a:srgbClr val="8B1A4A"/>
          </a:solidFill>
          <a:ln/>
          <a:effectLst>
            <a:outerShdw sx="100000" sy="100000" kx="0" ky="0" algn="bl" rotWithShape="0" blurRad="177800" dist="50800" dir="8100000">
              <a:srgbClr val="C9973A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6400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مـ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3017520" y="777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MiskMatch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01752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ختامه مسك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17520" y="2121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8B8E0"/>
                </a:solidFill>
              </a:rPr>
              <a:t>"Sealed with musk." — Quran 83:26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560320"/>
            <a:ext cx="5029200" cy="27432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2743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0EF"/>
                </a:solidFill>
              </a:rPr>
              <a:t>The Islamic matrimony platform built on real values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0EF"/>
                </a:solidFill>
              </a:rPr>
              <a:t>not algorithms that reduce people to swipes.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D145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6A8A"/>
                </a:solidFill>
              </a:rPr>
              <a:t>Noor Digital Labs  ·  Amman, Jordan  ·  2025  ·  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188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973A"/>
                </a:solidFill>
              </a:rPr>
              <a:t>SERIES A FUNDRAISING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2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Muslim marriage is broken.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B8E0"/>
                </a:solidFill>
              </a:rPr>
              <a:t>Three converging crises no existing platform solves.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651760" cy="2743200"/>
          </a:xfrm>
          <a:prstGeom prst="rect">
            <a:avLst/>
          </a:prstGeom>
          <a:solidFill>
            <a:srgbClr val="2D1459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2651760" cy="54864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😔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Loneliness epidemic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0C8"/>
                </a:solidFill>
              </a:rPr>
              <a:t>60% of single Muslims aged 22–35 report difficulty finding a spouse. Western platforms don't respect Islamic values. Community introductions have collapsed in diaspora cities.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2651760" cy="2743200"/>
          </a:xfrm>
          <a:prstGeom prst="rect">
            <a:avLst/>
          </a:prstGeom>
          <a:solidFill>
            <a:srgbClr val="2D1459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828800"/>
            <a:ext cx="2651760" cy="54864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📵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375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Haram-by-default apps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99923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0C8"/>
                </a:solidFill>
              </a:rPr>
              <a:t>Tinder, Bumble, Hinge — designed for casual dating. Existing 'halal' apps are superficial copies: swipe culture with an Islamic label. No wali integration. No moderation.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828800"/>
            <a:ext cx="2651760" cy="2743200"/>
          </a:xfrm>
          <a:prstGeom prst="rect">
            <a:avLst/>
          </a:prstGeom>
          <a:solidFill>
            <a:srgbClr val="2D1459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828800"/>
            <a:ext cx="2651760" cy="54864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722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guardian involvement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99923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0C8"/>
                </a:solidFill>
              </a:rPr>
              <a:t>Islamic marriage requires a wali (guardian). Zero platforms treat guardians as first-class participants. Families are bypassed, trust is broken, and marriages that begin this way often struggle.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6817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$2.4B addressable market  ·  400M Muslim millennials globally  ·  Marriage rate falling 18% per decade in MENA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0AA"/>
                </a:solidFill>
              </a:rPr>
              <a:t>3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7" name="Shape 5"/>
          <p:cNvSpPr/>
          <p:nvPr/>
        </p:nvSpPr>
        <p:spPr>
          <a:xfrm>
            <a:off x="-731520" y="1828800"/>
            <a:ext cx="3200400" cy="3200400"/>
          </a:xfrm>
          <a:prstGeom prst="oval">
            <a:avLst/>
          </a:prstGeom>
          <a:solidFill>
            <a:srgbClr val="8B1A4A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57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مـ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74320" y="457200"/>
            <a:ext cx="1463040" cy="1463040"/>
          </a:xfrm>
          <a:prstGeom prst="oval">
            <a:avLst/>
          </a:prstGeom>
          <a:solidFill>
            <a:srgbClr val="8B1A4A"/>
          </a:solidFill>
          <a:ln/>
          <a:effectLst>
            <a:outerShdw sx="100000" sy="100000" kx="0" ky="0" algn="bl" rotWithShape="0" blurRad="177800" dist="50800" dir="8100000">
              <a:srgbClr val="C9973A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457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مـ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7432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MiskMatch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" y="2560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973A"/>
                </a:solidFill>
              </a:rPr>
              <a:t>Islamic Matrimony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973A"/>
                </a:solidFill>
              </a:rPr>
              <a:t>Built the Right 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3383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Guardian-first</a:t>
            </a:r>
            <a:pPr indent="0" marL="0">
              <a:buNone/>
            </a:pPr>
            <a:r>
              <a:rPr lang="en-US" sz="1050" dirty="0">
                <a:solidFill>
                  <a:srgbClr val="C0B0D8"/>
                </a:solidFill>
              </a:rPr>
              <a:t> — Wali is a first-class participant, not an afterthought.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Deen Compatibility</a:t>
            </a:r>
            <a:pPr indent="0" marL="0">
              <a:buNone/>
            </a:pPr>
            <a:r>
              <a:rPr lang="en-US" sz="1050" dirty="0">
                <a:solidFill>
                  <a:srgbClr val="C0B0D8"/>
                </a:solidFill>
              </a:rPr>
              <a:t> — Matched on Islamic character, not photos.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Values-based games</a:t>
            </a:r>
            <a:pPr indent="0" marL="0">
              <a:buNone/>
            </a:pPr>
            <a:r>
              <a:rPr lang="en-US" sz="1050" dirty="0">
                <a:solidFill>
                  <a:srgbClr val="C0B0D8"/>
                </a:solidFill>
              </a:rPr>
              <a:t> — 17 games that reveal who someone really is.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502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MiskMatch different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114800" y="1051560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051560"/>
            <a:ext cx="54864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73168" y="11064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Wali Guardian Portal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73168" y="1344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070"/>
                </a:solidFill>
              </a:rPr>
              <a:t>Guardians approve matches, read conversations, join 3-way chaperoned video calls. Islamic process, digitised.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1801368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0" y="1801368"/>
            <a:ext cx="54864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73168" y="1856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AI Deen Compatibility Engine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2093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070"/>
                </a:solidFill>
              </a:rPr>
              <a:t>OpenAI embeddings on Islamic practice, life goals, and personality values. 40% rules + 60% vector similarity.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2551176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0" y="2551176"/>
            <a:ext cx="54864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73168" y="2606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17 Meaningful Games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73168" y="2843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070"/>
                </a:solidFill>
              </a:rPr>
              <a:t>Qalb Quiz, Would You Rather, Islamic Trivia, Time Capsule. Get to know someone through values, not banter.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3300984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0" y="3300984"/>
            <a:ext cx="54864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2" name="Text 30"/>
          <p:cNvSpPr/>
          <p:nvPr/>
        </p:nvSpPr>
        <p:spPr>
          <a:xfrm>
            <a:off x="42519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773168" y="3355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Chaperoned Calls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73168" y="3593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070"/>
                </a:solidFill>
              </a:rPr>
              <a:t>3-way video: ward + candidate + guardian. No private communication before wali approval.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0" y="4050792"/>
            <a:ext cx="4663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0" y="4050792"/>
            <a:ext cx="54864" cy="65836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7" name="Text 35"/>
          <p:cNvSpPr/>
          <p:nvPr/>
        </p:nvSpPr>
        <p:spPr>
          <a:xfrm>
            <a:off x="425196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73168" y="41056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2-Layer Islamic Moderation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73168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070"/>
                </a:solidFill>
              </a:rPr>
              <a:t>Real-time AI content moderation enforcing Islamic etiquette in every message.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0AA"/>
                </a:solidFill>
              </a:rPr>
              <a:t>4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intention to nikah — the full journey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353312"/>
            <a:ext cx="502920" cy="502920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Set Niyyah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5727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User declares intention for marriage. Guardian contact is entered immediately.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0" y="2194560"/>
            <a:ext cx="27432" cy="164592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35915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523744"/>
            <a:ext cx="502920" cy="502920"/>
          </a:xfrm>
          <a:prstGeom prst="oval">
            <a:avLst/>
          </a:prstGeom>
          <a:solidFill>
            <a:srgbClr val="C4436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Build Profile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74320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5-step wizard: Islamic practice, life goals, voice intro, AI compatibility embedding.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3364992"/>
            <a:ext cx="27432" cy="164592"/>
          </a:xfrm>
          <a:prstGeom prst="rect">
            <a:avLst/>
          </a:prstGeom>
          <a:solidFill>
            <a:srgbClr val="C4436A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529584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3694176"/>
            <a:ext cx="502920" cy="502920"/>
          </a:xfrm>
          <a:prstGeom prst="oval">
            <a:avLst/>
          </a:prstGeom>
          <a:solidFill>
            <a:srgbClr val="C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5568" y="3621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Discover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91363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AI-ranked feed of candidates. Photo hidden until mutual interest. Voice-first.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1188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47488" y="1353312"/>
            <a:ext cx="502920" cy="502920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87568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Express Interest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87568" y="15727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Islamic message sent. Both walis notified. Approval required before chat opens.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0" y="2194560"/>
            <a:ext cx="27432" cy="164592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2359152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47488" y="2523744"/>
            <a:ext cx="502920" cy="502920"/>
          </a:xfrm>
          <a:prstGeom prst="oval">
            <a:avLst/>
          </a:prstGeom>
          <a:solidFill>
            <a:srgbClr val="C4436A"/>
          </a:solidFill>
          <a:ln/>
        </p:spPr>
      </p:sp>
      <p:sp>
        <p:nvSpPr>
          <p:cNvPr id="32" name="Text 30"/>
          <p:cNvSpPr/>
          <p:nvPr/>
        </p:nvSpPr>
        <p:spPr>
          <a:xfrm>
            <a:off x="5047488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87568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Play &amp; Learn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87568" y="274320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17 values-based games unlock over 21 days. Get to know each other deeply.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0" y="3364992"/>
            <a:ext cx="27432" cy="164592"/>
          </a:xfrm>
          <a:prstGeom prst="rect">
            <a:avLst/>
          </a:prstGeom>
          <a:solidFill>
            <a:srgbClr val="C4436A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3529584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47488" y="3694176"/>
            <a:ext cx="502920" cy="502920"/>
          </a:xfrm>
          <a:prstGeom prst="oval">
            <a:avLst/>
          </a:prstGeom>
          <a:solidFill>
            <a:srgbClr val="C9973A"/>
          </a:solidFill>
          <a:ln/>
        </p:spPr>
      </p:sp>
      <p:sp>
        <p:nvSpPr>
          <p:cNvPr id="38" name="Text 36"/>
          <p:cNvSpPr/>
          <p:nvPr/>
        </p:nvSpPr>
        <p:spPr>
          <a:xfrm>
            <a:off x="5047488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87568" y="3621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Chaperoned Call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87568" y="391363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3-way video with wali present. Family-inclusive communication.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26280" y="1097280"/>
            <a:ext cx="27432" cy="3566160"/>
          </a:xfrm>
          <a:prstGeom prst="rect">
            <a:avLst/>
          </a:prstGeom>
          <a:solidFill>
            <a:srgbClr val="E2D6EE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4663440"/>
            <a:ext cx="8321040" cy="274320"/>
          </a:xfrm>
          <a:prstGeom prst="rect">
            <a:avLst/>
          </a:prstGeom>
          <a:solidFill>
            <a:srgbClr val="3D1A6B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700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F0F3"/>
                </a:solidFill>
              </a:rPr>
              <a:t>All communication is moderated. Wali has visibility at every stage. No private unchaperoned contact before family approval.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MARKET SIZE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5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global market, systematically underserved.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4114800" cy="3657600"/>
          </a:xfrm>
          <a:prstGeom prst="oval">
            <a:avLst/>
          </a:prstGeom>
          <a:solidFill>
            <a:srgbClr val="2D1459">
              <a:alpha val="80000"/>
            </a:srgbClr>
          </a:solidFill>
          <a:ln w="25400">
            <a:solidFill>
              <a:srgbClr val="8B1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417320"/>
            <a:ext cx="3017520" cy="2651760"/>
          </a:xfrm>
          <a:prstGeom prst="oval">
            <a:avLst/>
          </a:prstGeom>
          <a:solidFill>
            <a:srgbClr val="2D1459">
              <a:alpha val="90000"/>
            </a:srgbClr>
          </a:solidFill>
          <a:ln w="25400">
            <a:solidFill>
              <a:srgbClr val="C443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2011680"/>
            <a:ext cx="1554480" cy="1463040"/>
          </a:xfrm>
          <a:prstGeom prst="oval">
            <a:avLst/>
          </a:prstGeom>
          <a:solidFill>
            <a:srgbClr val="8B1A4A"/>
          </a:solidFill>
          <a:ln w="25400">
            <a:solidFill>
              <a:srgbClr val="C9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1A4A"/>
                </a:solidFill>
              </a:rPr>
              <a:t>TAM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436A"/>
                </a:solidFill>
              </a:rPr>
              <a:t>SAM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606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005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$6.2B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TAM — Global Muslim marriage market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0C0"/>
                </a:solidFill>
              </a:rPr>
              <a:t>1.9B Muslims · 400M millennials · marriage intent high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176272"/>
            <a:ext cx="3840480" cy="18288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331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4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$2.4B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54880" y="2926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 — MENA + diaspora digital-first singles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172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0C0"/>
                </a:solidFill>
              </a:rPr>
              <a:t>Jordan · UAE · KSA · UK · US · CA · DE · MY · AU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502152"/>
            <a:ext cx="3840480" cy="18288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657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$48M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754880" y="4251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SOM — Year 3 realistic capture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498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0C0"/>
                </a:solidFill>
              </a:rPr>
              <a:t>120,000 paid subscribers @ $33/month avg.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4070"/>
                </a:solidFill>
              </a:rPr>
              <a:t>Sources: Pew Research 2024 · Statista Muslim Demographics · Grand View Research Marriage App Market Report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TRACTION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0AA"/>
                </a:solidFill>
              </a:rPr>
              <a:t>6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signals — pre-launch.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070"/>
                </a:solidFill>
              </a:rPr>
              <a:t>MiskMatch launches TestFlight Q3 2025. The pipeline and interest are already 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920240" cy="1234440"/>
          </a:xfrm>
          <a:prstGeom prst="rect">
            <a:avLst/>
          </a:prstGeom>
          <a:solidFill>
            <a:srgbClr val="8B1A4A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527048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847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2096262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Beta waitlist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signups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417320"/>
            <a:ext cx="1920240" cy="1234440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527048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14600" y="2096262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Mosques in talks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 partnership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920240" cy="1234440"/>
          </a:xfrm>
          <a:prstGeom prst="rect">
            <a:avLst/>
          </a:prstGeom>
          <a:solidFill>
            <a:srgbClr val="C9973A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527048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0A2E"/>
                </a:solidFill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2096262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0A2E"/>
                </a:solidFill>
              </a:rPr>
              <a:t>GCC family offices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0A2E"/>
                </a:solidFill>
              </a:rPr>
              <a:t>interested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1920240" cy="1234440"/>
          </a:xfrm>
          <a:prstGeom prst="rect">
            <a:avLst/>
          </a:prstGeom>
          <a:solidFill>
            <a:srgbClr val="2D1459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527048"/>
            <a:ext cx="192024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174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12280" y="2096262"/>
            <a:ext cx="192024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Backend tests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passing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</a:rPr>
              <a:t>What's been built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300984"/>
            <a:ext cx="164592" cy="164592"/>
          </a:xfrm>
          <a:prstGeom prst="oval">
            <a:avLst/>
          </a:prstGeom>
          <a:solidFill>
            <a:srgbClr val="1B7F4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FastAPI Backend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6324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72 REST + 2 WS endpoints · 174/174 tests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924" y="3474720"/>
            <a:ext cx="9144" cy="274320"/>
          </a:xfrm>
          <a:prstGeom prst="rect">
            <a:avLst/>
          </a:prstGeom>
          <a:solidFill>
            <a:srgbClr val="E2D6E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575304"/>
            <a:ext cx="164592" cy="164592"/>
          </a:xfrm>
          <a:prstGeom prst="oval">
            <a:avLst/>
          </a:prstGeom>
          <a:solidFill>
            <a:srgbClr val="1B7F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Flutter App (iOS + Android)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63240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74 Dart files · 21,000 lines · 6 sprints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4924" y="3749040"/>
            <a:ext cx="9144" cy="274320"/>
          </a:xfrm>
          <a:prstGeom prst="rect">
            <a:avLst/>
          </a:prstGeom>
          <a:solidFill>
            <a:srgbClr val="E2D6EE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849624"/>
            <a:ext cx="164592" cy="164592"/>
          </a:xfrm>
          <a:prstGeom prst="oval">
            <a:avLst/>
          </a:prstGeom>
          <a:solidFill>
            <a:srgbClr val="1B7F4A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AI Compatibility Engine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6324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OpenAI embeddings · hybrid scoring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4924" y="4023360"/>
            <a:ext cx="9144" cy="274320"/>
          </a:xfrm>
          <a:prstGeom prst="rect">
            <a:avLst/>
          </a:prstGeom>
          <a:solidFill>
            <a:srgbClr val="E2D6EE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123944"/>
            <a:ext cx="164592" cy="164592"/>
          </a:xfrm>
          <a:prstGeom prst="oval">
            <a:avLst/>
          </a:prstGeom>
          <a:solidFill>
            <a:srgbClr val="1B7F4A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Wali Guardian Portal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6324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Full approval lifecycle · flagged messages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4924" y="4297680"/>
            <a:ext cx="9144" cy="274320"/>
          </a:xfrm>
          <a:prstGeom prst="rect">
            <a:avLst/>
          </a:prstGeom>
          <a:solidFill>
            <a:srgbClr val="E2D6EE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4398264"/>
            <a:ext cx="164592" cy="164592"/>
          </a:xfrm>
          <a:prstGeom prst="oval">
            <a:avLst/>
          </a:prstGeom>
          <a:solidFill>
            <a:srgbClr val="1B7F4A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4343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17 Games Engine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06324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1,700+ questions · async + real-time modes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4924" y="4572000"/>
            <a:ext cx="9144" cy="274320"/>
          </a:xfrm>
          <a:prstGeom prst="rect">
            <a:avLst/>
          </a:prstGeom>
          <a:solidFill>
            <a:srgbClr val="E2D6EE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4672584"/>
            <a:ext cx="164592" cy="164592"/>
          </a:xfrm>
          <a:prstGeom prst="oval">
            <a:avLst/>
          </a:prstGeom>
          <a:solidFill>
            <a:srgbClr val="1B7F4A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4617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Chaperoned Calls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063240" y="4617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070"/>
                </a:solidFill>
              </a:rPr>
              <a:t>Agora RTC · 3-way · token generation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60720" y="2788920"/>
            <a:ext cx="2971800" cy="2194560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760720" y="2788920"/>
            <a:ext cx="2971800" cy="4572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6" name="Text 44"/>
          <p:cNvSpPr/>
          <p:nvPr/>
        </p:nvSpPr>
        <p:spPr>
          <a:xfrm>
            <a:off x="5897880" y="2880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3A"/>
                </a:solidFill>
              </a:rPr>
              <a:t>Next 90 days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897880" y="324612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D0F0"/>
                </a:solidFill>
              </a:rPr>
              <a:t>1.  TestFlight beta — 200 users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D0F0"/>
                </a:solidFill>
              </a:rPr>
              <a:t>2.  Firebase push notifications live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D0F0"/>
                </a:solidFill>
              </a:rPr>
              <a:t>3.  Agora production credentials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D0F0"/>
                </a:solidFill>
              </a:rPr>
              <a:t>4.  Mosque partnership programme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D0F0"/>
                </a:solidFill>
              </a:rPr>
              <a:t>5.  App Store &amp; Play Store submission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D0F0"/>
                </a:solidFill>
              </a:rPr>
              <a:t>6.  PR — Arab &amp; Muslim media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PRODUCT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7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screen purpose-built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Islamic marriage.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325880" cy="2377440"/>
          </a:xfrm>
          <a:prstGeom prst="rect">
            <a:avLst/>
          </a:prstGeom>
          <a:solidFill>
            <a:srgbClr val="2D1459"/>
          </a:solidFill>
          <a:ln w="25400">
            <a:solidFill>
              <a:srgbClr val="8B1A4A"/>
            </a:solidFill>
            <a:prstDash val="solid"/>
          </a:ln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508760"/>
            <a:ext cx="1179576" cy="1920240"/>
          </a:xfrm>
          <a:prstGeom prst="rect">
            <a:avLst/>
          </a:prstGeom>
          <a:solidFill>
            <a:srgbClr val="1F0E3A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444752"/>
            <a:ext cx="365760" cy="137160"/>
          </a:xfrm>
          <a:prstGeom prst="oval">
            <a:avLst/>
          </a:prstGeom>
          <a:solidFill>
            <a:srgbClr val="1A0A2E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1508760"/>
            <a:ext cx="1179576" cy="365760"/>
          </a:xfrm>
          <a:prstGeom prst="rect">
            <a:avLst/>
          </a:prstGeom>
          <a:solidFill>
            <a:srgbClr val="8B1A4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53619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Niyyah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68680" y="2011680"/>
            <a:ext cx="320040" cy="320040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8221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1A4A"/>
                </a:solidFill>
              </a:rPr>
              <a:t>Niyyah screen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40873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Sets intention before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any matching begins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20240" y="1371600"/>
            <a:ext cx="1325880" cy="2377440"/>
          </a:xfrm>
          <a:prstGeom prst="rect">
            <a:avLst/>
          </a:prstGeom>
          <a:solidFill>
            <a:srgbClr val="2D1459"/>
          </a:solidFill>
          <a:ln w="25400">
            <a:solidFill>
              <a:srgbClr val="C4436A"/>
            </a:solidFill>
            <a:prstDash val="solid"/>
          </a:ln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93392" y="1508760"/>
            <a:ext cx="1179576" cy="1920240"/>
          </a:xfrm>
          <a:prstGeom prst="rect">
            <a:avLst/>
          </a:prstGeom>
          <a:solidFill>
            <a:srgbClr val="1F0E3A"/>
          </a:solidFill>
          <a:ln/>
        </p:spPr>
      </p:sp>
      <p:sp>
        <p:nvSpPr>
          <p:cNvPr id="17" name="Shape 15"/>
          <p:cNvSpPr/>
          <p:nvPr/>
        </p:nvSpPr>
        <p:spPr>
          <a:xfrm>
            <a:off x="2395728" y="1444752"/>
            <a:ext cx="365760" cy="137160"/>
          </a:xfrm>
          <a:prstGeom prst="oval">
            <a:avLst/>
          </a:prstGeom>
          <a:solidFill>
            <a:srgbClr val="1A0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993392" y="1508760"/>
            <a:ext cx="1179576" cy="365760"/>
          </a:xfrm>
          <a:prstGeom prst="rect">
            <a:avLst/>
          </a:prstGeom>
          <a:solidFill>
            <a:srgbClr val="C4436A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993392" y="153619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Discovery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23160" y="2011680"/>
            <a:ext cx="320040" cy="320040"/>
          </a:xfrm>
          <a:prstGeom prst="oval">
            <a:avLst/>
          </a:prstGeom>
          <a:solidFill>
            <a:srgbClr val="C4436A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38221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436A"/>
                </a:solidFill>
              </a:rPr>
              <a:t>Discovery feed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40873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Voice-first. Photo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hidden until mutual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0" y="1371600"/>
            <a:ext cx="1325880" cy="2377440"/>
          </a:xfrm>
          <a:prstGeom prst="rect">
            <a:avLst/>
          </a:prstGeom>
          <a:solidFill>
            <a:srgbClr val="2D1459"/>
          </a:solidFill>
          <a:ln w="25400">
            <a:solidFill>
              <a:srgbClr val="C9973A"/>
            </a:solidFill>
            <a:prstDash val="solid"/>
          </a:ln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47872" y="1508760"/>
            <a:ext cx="1179576" cy="1920240"/>
          </a:xfrm>
          <a:prstGeom prst="rect">
            <a:avLst/>
          </a:prstGeom>
          <a:solidFill>
            <a:srgbClr val="1F0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3950208" y="1444752"/>
            <a:ext cx="365760" cy="137160"/>
          </a:xfrm>
          <a:prstGeom prst="oval">
            <a:avLst/>
          </a:prstGeom>
          <a:solidFill>
            <a:srgbClr val="1A0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47872" y="1508760"/>
            <a:ext cx="1179576" cy="365760"/>
          </a:xfrm>
          <a:prstGeom prst="rect">
            <a:avLst/>
          </a:prstGeom>
          <a:solidFill>
            <a:srgbClr val="C9973A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547872" y="153619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Games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77640" y="2011680"/>
            <a:ext cx="320040" cy="320040"/>
          </a:xfrm>
          <a:prstGeom prst="oval">
            <a:avLst/>
          </a:prstGeom>
          <a:solidFill>
            <a:srgbClr val="C9973A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8221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Games hub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40873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17 games unlock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over 21 days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0" y="1371600"/>
            <a:ext cx="1325880" cy="2377440"/>
          </a:xfrm>
          <a:prstGeom prst="rect">
            <a:avLst/>
          </a:prstGeom>
          <a:solidFill>
            <a:srgbClr val="2D1459"/>
          </a:solidFill>
          <a:ln w="25400">
            <a:solidFill>
              <a:srgbClr val="8B1A4A"/>
            </a:solidFill>
            <a:prstDash val="solid"/>
          </a:ln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02352" y="1508760"/>
            <a:ext cx="1179576" cy="1920240"/>
          </a:xfrm>
          <a:prstGeom prst="rect">
            <a:avLst/>
          </a:prstGeom>
          <a:solidFill>
            <a:srgbClr val="1F0E3A"/>
          </a:solidFill>
          <a:ln/>
        </p:spPr>
      </p:sp>
      <p:sp>
        <p:nvSpPr>
          <p:cNvPr id="33" name="Shape 31"/>
          <p:cNvSpPr/>
          <p:nvPr/>
        </p:nvSpPr>
        <p:spPr>
          <a:xfrm>
            <a:off x="5504688" y="1444752"/>
            <a:ext cx="365760" cy="137160"/>
          </a:xfrm>
          <a:prstGeom prst="oval">
            <a:avLst/>
          </a:prstGeom>
          <a:solidFill>
            <a:srgbClr val="1A0A2E"/>
          </a:solidFill>
          <a:ln/>
        </p:spPr>
      </p:sp>
      <p:sp>
        <p:nvSpPr>
          <p:cNvPr id="34" name="Shape 32"/>
          <p:cNvSpPr/>
          <p:nvPr/>
        </p:nvSpPr>
        <p:spPr>
          <a:xfrm>
            <a:off x="5102352" y="1508760"/>
            <a:ext cx="1179576" cy="365760"/>
          </a:xfrm>
          <a:prstGeom prst="rect">
            <a:avLst/>
          </a:prstGeom>
          <a:solidFill>
            <a:srgbClr val="8B1A4A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102352" y="153619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Wali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32120" y="2011680"/>
            <a:ext cx="320040" cy="320040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8221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1A4A"/>
                </a:solidFill>
              </a:rPr>
              <a:t>Wali portal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37760" y="40873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Guardian approves,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reviews, joins calls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83680" y="1371600"/>
            <a:ext cx="1325880" cy="2377440"/>
          </a:xfrm>
          <a:prstGeom prst="rect">
            <a:avLst/>
          </a:prstGeom>
          <a:solidFill>
            <a:srgbClr val="2D1459"/>
          </a:solidFill>
          <a:ln w="25400">
            <a:solidFill>
              <a:srgbClr val="C4436A"/>
            </a:solidFill>
            <a:prstDash val="solid"/>
          </a:ln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56832" y="1508760"/>
            <a:ext cx="1179576" cy="1920240"/>
          </a:xfrm>
          <a:prstGeom prst="rect">
            <a:avLst/>
          </a:prstGeom>
          <a:solidFill>
            <a:srgbClr val="1F0E3A"/>
          </a:solidFill>
          <a:ln/>
        </p:spPr>
      </p:sp>
      <p:sp>
        <p:nvSpPr>
          <p:cNvPr id="41" name="Shape 39"/>
          <p:cNvSpPr/>
          <p:nvPr/>
        </p:nvSpPr>
        <p:spPr>
          <a:xfrm>
            <a:off x="7059168" y="1444752"/>
            <a:ext cx="365760" cy="137160"/>
          </a:xfrm>
          <a:prstGeom prst="oval">
            <a:avLst/>
          </a:prstGeom>
          <a:solidFill>
            <a:srgbClr val="1A0A2E"/>
          </a:solidFill>
          <a:ln/>
        </p:spPr>
      </p:sp>
      <p:sp>
        <p:nvSpPr>
          <p:cNvPr id="42" name="Shape 40"/>
          <p:cNvSpPr/>
          <p:nvPr/>
        </p:nvSpPr>
        <p:spPr>
          <a:xfrm>
            <a:off x="6656832" y="1508760"/>
            <a:ext cx="1179576" cy="365760"/>
          </a:xfrm>
          <a:prstGeom prst="rect">
            <a:avLst/>
          </a:prstGeom>
          <a:solidFill>
            <a:srgbClr val="C4436A">
              <a:alpha val="7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56832" y="153619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Chaperoned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086600" y="2011680"/>
            <a:ext cx="320040" cy="320040"/>
          </a:xfrm>
          <a:prstGeom prst="oval">
            <a:avLst/>
          </a:prstGeom>
          <a:solidFill>
            <a:srgbClr val="C4436A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38221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436A"/>
                </a:solidFill>
              </a:rPr>
              <a:t>Chaperoned call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92240" y="40873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3-way with guardian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90C0"/>
                </a:solidFill>
              </a:rPr>
              <a:t>Present from first call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FFFF"/>
                </a:solidFill>
              </a:rPr>
              <a:t>"No other platform puts the guardian at the centre of every interaction from day one."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AI ENGINE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0AA"/>
                </a:solidFill>
              </a:rPr>
              <a:t>8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Deen Compatibility Engine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070"/>
                </a:solidFill>
              </a:rPr>
              <a:t>The first AI system trained to match on Islamic character — not dating-app proxies.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38528"/>
            <a:ext cx="420624" cy="420624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9019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</a:rPr>
              <a:t>Profile embedding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1396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4070"/>
                </a:solidFill>
              </a:rPr>
              <a:t>OpenAI text-embedding-3-small (1536 dims). Reads prayer frequency, madhab, life goals, bio, games history. Cost: $0.000015/profile.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587752"/>
            <a:ext cx="402336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97480"/>
            <a:ext cx="420624" cy="420624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26609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</a:rPr>
              <a:t>Rules layer (40%)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8986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4070"/>
                </a:solidFill>
              </a:rPr>
              <a:t>Hard filters: prayer compatibility, hijab stance, children intent, Islamic finance, hijra plans. Prevents fundamentally incompatible matches.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402336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56432"/>
            <a:ext cx="420624" cy="420624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419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</a:rPr>
              <a:t>AI similarity (60%)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6576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4070"/>
                </a:solidFill>
              </a:rPr>
              <a:t>Cosine similarity across value vectors. Captures nuanced character alignment beyond what individual fields express.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105656"/>
            <a:ext cx="402336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15384"/>
            <a:ext cx="420624" cy="420624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8992" y="41788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2E"/>
                </a:solidFill>
              </a:rPr>
              <a:t>Trust weighting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4165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4070"/>
                </a:solidFill>
              </a:rPr>
              <a:t>Mosque-verified, scholar-endorsed, and ID-verified profiles score higher. Trust is a first-class signal.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371600"/>
            <a:ext cx="4023360" cy="3520440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3A"/>
                </a:solidFill>
              </a:rPr>
              <a:t>Match Score Breakdown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06440" y="1920240"/>
            <a:ext cx="1828800" cy="1828800"/>
          </a:xfrm>
          <a:prstGeom prst="oval">
            <a:avLst/>
          </a:prstGeom>
          <a:solidFill>
            <a:srgbClr val="2D1459"/>
          </a:solidFill>
          <a:ln w="101600">
            <a:solidFill>
              <a:srgbClr val="8B1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2103120"/>
            <a:ext cx="1463040" cy="1463040"/>
          </a:xfrm>
          <a:prstGeom prst="oval">
            <a:avLst/>
          </a:prstGeom>
          <a:solidFill>
            <a:srgbClr val="2D1459"/>
          </a:solidFill>
          <a:ln w="63500">
            <a:solidFill>
              <a:srgbClr val="C443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2286000"/>
            <a:ext cx="1097280" cy="1097280"/>
          </a:xfrm>
          <a:prstGeom prst="oval">
            <a:avLst/>
          </a:prstGeom>
          <a:solidFill>
            <a:srgbClr val="2D1459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87%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17220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0C0"/>
                </a:solidFill>
              </a:rPr>
              <a:t>Match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90C0"/>
                </a:solidFill>
              </a:rPr>
              <a:t>Score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0C8"/>
                </a:solidFill>
              </a:rPr>
              <a:t>Deen alignment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675120" y="3895344"/>
            <a:ext cx="1828800" cy="128016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38" name="Shape 36"/>
          <p:cNvSpPr/>
          <p:nvPr/>
        </p:nvSpPr>
        <p:spPr>
          <a:xfrm>
            <a:off x="6675120" y="3895344"/>
            <a:ext cx="1737360" cy="12801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9" name="Text 37"/>
          <p:cNvSpPr/>
          <p:nvPr/>
        </p:nvSpPr>
        <p:spPr>
          <a:xfrm>
            <a:off x="8522208" y="38587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1A4A"/>
                </a:solidFill>
              </a:rPr>
              <a:t>95%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92040" y="4105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0C8"/>
                </a:solidFill>
              </a:rPr>
              <a:t>Life goals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675120" y="4142232"/>
            <a:ext cx="1828800" cy="128016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0" y="4142232"/>
            <a:ext cx="1499616" cy="128016"/>
          </a:xfrm>
          <a:prstGeom prst="rect">
            <a:avLst/>
          </a:prstGeom>
          <a:solidFill>
            <a:srgbClr val="C4436A"/>
          </a:solidFill>
          <a:ln/>
        </p:spPr>
      </p:sp>
      <p:sp>
        <p:nvSpPr>
          <p:cNvPr id="43" name="Text 41"/>
          <p:cNvSpPr/>
          <p:nvPr/>
        </p:nvSpPr>
        <p:spPr>
          <a:xfrm>
            <a:off x="8522208" y="41056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436A"/>
                </a:solidFill>
              </a:rPr>
              <a:t>82%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92040" y="4352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0C8"/>
                </a:solidFill>
              </a:rPr>
              <a:t>Personality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75120" y="4389120"/>
            <a:ext cx="1828800" cy="128016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46" name="Shape 44"/>
          <p:cNvSpPr/>
          <p:nvPr/>
        </p:nvSpPr>
        <p:spPr>
          <a:xfrm>
            <a:off x="6675120" y="4389120"/>
            <a:ext cx="1609344" cy="12801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47" name="Text 45"/>
          <p:cNvSpPr/>
          <p:nvPr/>
        </p:nvSpPr>
        <p:spPr>
          <a:xfrm>
            <a:off x="8522208" y="435254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973A"/>
                </a:solidFill>
              </a:rPr>
              <a:t>88%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92040" y="4599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A0C8"/>
                </a:solidFill>
              </a:rPr>
              <a:t>Practical fit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75120" y="4636008"/>
            <a:ext cx="1828800" cy="128016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50" name="Shape 48"/>
          <p:cNvSpPr/>
          <p:nvPr/>
        </p:nvSpPr>
        <p:spPr>
          <a:xfrm>
            <a:off x="6675120" y="4636008"/>
            <a:ext cx="1444752" cy="128016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1" name="Text 49"/>
          <p:cNvSpPr/>
          <p:nvPr/>
        </p:nvSpPr>
        <p:spPr>
          <a:xfrm>
            <a:off x="8522208" y="45994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8EE"/>
                </a:solidFill>
              </a:rPr>
              <a:t>79%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9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— three tiers matching Islamic generosity.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97480" cy="3749040"/>
          </a:xfrm>
          <a:prstGeom prst="rect">
            <a:avLst/>
          </a:prstGeom>
          <a:solidFill>
            <a:srgbClr val="2D1459"/>
          </a:solidFill>
          <a:ln w="12700">
            <a:solidFill>
              <a:srgbClr val="6B5B7A"/>
            </a:solidFill>
            <a:prstDash val="solid"/>
          </a:ln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697480" cy="54864"/>
          </a:xfrm>
          <a:prstGeom prst="rect">
            <a:avLst/>
          </a:prstGeom>
          <a:solidFill>
            <a:srgbClr val="6B5B7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704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9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بركة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Barakah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1938528"/>
            <a:ext cx="196596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Free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D8"/>
                </a:solidFill>
              </a:rPr>
              <a:t>Forever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Profile creation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9992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AI compatibility preview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2552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5 games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51129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Wali guardian setup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7673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Basic discovery feed (20/day)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4617720"/>
            <a:ext cx="2240280" cy="20116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626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9973A"/>
                </a:solidFill>
              </a:rPr>
              <a:t>Acquisition tier — converts to Noor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1097280"/>
            <a:ext cx="2697480" cy="374904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097280"/>
            <a:ext cx="2697480" cy="54864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11704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9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نور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00400" y="1572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Noor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566160" y="1938528"/>
            <a:ext cx="196596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$19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566160" y="23957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D8"/>
                </a:solidFill>
              </a:rPr>
              <a:t>per month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27432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Unlimited discovery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29992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All 17 games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2552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Voice messages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51129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Full compat breakdown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37673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Chaperoned calls (3/month)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0233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Priority matching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29000" y="4617720"/>
            <a:ext cx="2240280" cy="20116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4626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9973A"/>
                </a:solidFill>
              </a:rPr>
              <a:t>Primary revenue driver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35040" y="1097280"/>
            <a:ext cx="2697480" cy="3749040"/>
          </a:xfrm>
          <a:prstGeom prst="rect">
            <a:avLst/>
          </a:prstGeom>
          <a:solidFill>
            <a:srgbClr val="1A0A2E"/>
          </a:solidFill>
          <a:ln w="38100">
            <a:solidFill>
              <a:srgbClr val="C9973A"/>
            </a:solidFill>
            <a:prstDash val="solid"/>
          </a:ln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097280"/>
            <a:ext cx="2697480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8" name="Text 36"/>
          <p:cNvSpPr/>
          <p:nvPr/>
        </p:nvSpPr>
        <p:spPr>
          <a:xfrm>
            <a:off x="6035040" y="11704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مسك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035040" y="1572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Misk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400800" y="1938528"/>
            <a:ext cx="1965960" cy="6858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73A"/>
                </a:solidFill>
              </a:rPr>
              <a:t>$39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400800" y="23957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B0D8"/>
                </a:solidFill>
              </a:rPr>
              <a:t>per month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27432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Everything in Noor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29992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Unlimited calls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2552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Scholar-endorsement pathway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0" y="351129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Mosque verification fast-track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0" y="37673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Family introduction service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40233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73A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E8E0F0"/>
                </a:solidFill>
              </a:rPr>
              <a:t>Concierge matching support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4617720"/>
            <a:ext cx="2240280" cy="201168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46268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9973A"/>
                </a:solidFill>
              </a:rPr>
              <a:t>High-value GCC segment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" y="48737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A8A"/>
                </a:solidFill>
              </a:rPr>
              <a:t>Additional revenue: Family introduction service  ·  API licensing to Islamic organisations  ·  Mosque partnership programme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COMPETITION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0AA"/>
                </a:solidFill>
              </a:rPr>
              <a:t>10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the only platform built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around the wali from day one.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25880"/>
                <a:gridCol w="1325880"/>
                <a:gridCol w="1325880"/>
                <a:gridCol w="1325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MiskMatch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Muzz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A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Muzmatch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A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Tinder/Hinge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A6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</a:rPr>
                        <a:t>Wali guardian portal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A"/>
                          </a:solidFill>
                        </a:rPr>
                        <a:t>✅ Full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</a:rPr>
                        <a:t>AI deen compatibility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A"/>
                          </a:solidFill>
                        </a:rPr>
                        <a:t>✅ Full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</a:rPr>
                        <a:t>⚠️ Basic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</a:rPr>
                        <a:t>Islamic chat moderation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✅ 2-layer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</a:rPr>
                        <a:t>⚠️ Partial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</a:rPr>
                        <a:t>Chaperoned video calls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✅ 3-way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</a:rPr>
                        <a:t>Values-based games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C3333"/>
                          </a:solidFill>
                        </a:rPr>
                        <a:t>✅ 17 games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</a:rPr>
                        <a:t>Time Capsule / deep bonding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A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</a:rPr>
                        <a:t>Mosque verification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A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</a:rPr>
                        <a:t>⚠️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0A2E"/>
                          </a:solidFill>
                        </a:rPr>
                        <a:t>MENA-first + diaspora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A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7F4A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7F4A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8B1A4A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FFFF"/>
                </a:solidFill>
              </a:rPr>
              <a:t>"The wali is not a feature — it's an Islamic requirement. We're the only platform that treats it that way."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GO-TO-MARKET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11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Community-first. Trust-led. Geographic rollout.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743200" cy="3794760"/>
          </a:xfrm>
          <a:prstGeom prst="rect">
            <a:avLst/>
          </a:prstGeom>
          <a:solidFill>
            <a:srgbClr val="2D1459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1A4A"/>
                </a:solidFill>
              </a:rPr>
              <a:t>Phase 1 — Q3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Jordan &amp; UK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2286000" cy="18288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4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Launch TestFlight beta — 500 users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304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4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20 Amman mosque partnerships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7066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4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Islamic student societies — UK universities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4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WhatsApp community beta programme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511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4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Arabic + English app stores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913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A4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Target: 2,000 MAU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097280"/>
            <a:ext cx="2743200" cy="3794760"/>
          </a:xfrm>
          <a:prstGeom prst="rect">
            <a:avLst/>
          </a:prstGeom>
          <a:solidFill>
            <a:srgbClr val="2D1459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973A"/>
                </a:solidFill>
              </a:rPr>
              <a:t>Phase 2 — Q4 2025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GCC Expansion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383280" y="1783080"/>
            <a:ext cx="2286000" cy="1828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Saudi Arabia, UAE, Qatar launch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2304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GCC family office partnerships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27066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Scholar endorsement programme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Arabic-first marketing campaign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3511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Mosque verification network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3913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Target: 15,000 MAU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2743200" cy="3794760"/>
          </a:xfrm>
          <a:prstGeom prst="rect">
            <a:avLst/>
          </a:prstGeom>
          <a:solidFill>
            <a:srgbClr val="2D1459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C4436A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4436A"/>
                </a:solidFill>
              </a:rPr>
              <a:t>Phase 3 — 2026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Diaspora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63640" y="1783080"/>
            <a:ext cx="2286000" cy="18288"/>
          </a:xfrm>
          <a:prstGeom prst="rect">
            <a:avLst/>
          </a:prstGeom>
          <a:solidFill>
            <a:srgbClr val="C4436A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436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US, Canada, Germany, Australia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23042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436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Islamic centres nationwide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27066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436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API licensing to existing platforms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436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Malaysia &amp; Indonesia expansion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63640" y="3511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436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B2B mosque SaaS offering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3913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436A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Target: 120,000 MAU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D1459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0C0"/>
                </a:solidFill>
              </a:rPr>
              <a:t>Channels:  Mosques  ·  Islamic student societies  ·  Social media (Instagram/TikTok/X)  ·  Scholar referrals  ·  Family offices  ·  PR — Arab + Muslim media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TEAM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0AA"/>
                </a:solidFill>
              </a:rPr>
              <a:t>12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Noor Digital Labs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070"/>
                </a:solidFill>
              </a:rPr>
              <a:t>Based in Amman, Jordan. Operating across the MENA region and GCC.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3840480" cy="2560320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98448"/>
            <a:ext cx="3840480" cy="64008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508760"/>
            <a:ext cx="1097280" cy="1097280"/>
          </a:xfrm>
          <a:prstGeom prst="oval">
            <a:avLst/>
          </a:prstGeom>
          <a:solidFill>
            <a:srgbClr val="8B1A4A"/>
          </a:solidFill>
          <a:ln/>
          <a:effectLst>
            <a:outerShdw sx="100000" sy="100000" kx="0" ky="0" algn="bl" rotWithShape="0" blurRad="177800" dist="50800" dir="8100000">
              <a:srgbClr val="C9973A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508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920240" y="15361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Motasem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73A"/>
                </a:solidFill>
              </a:rPr>
              <a:t>Founder &amp; CEO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2176272"/>
            <a:ext cx="1920240" cy="18288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Full-stack developer
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Flutter · FastAPI · Postgres · UE5 · AI/ML
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Builds end-to-end: backend, mobile, AI, games
</a:t>
            </a:r>
            <a:pPr indent="0" marL="0">
              <a:buNone/>
            </a:pPr>
            <a:r>
              <a:rPr lang="en-US" sz="850" dirty="0">
                <a:solidFill>
                  <a:srgbClr val="9080B0"/>
                </a:solidFill>
              </a:rPr>
              <a:t>Previous: TradoVerse (AI trading SaaS), GeoWorld UE5 plugin, MobilePwn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1298448"/>
            <a:ext cx="4343400" cy="2560320"/>
          </a:xfrm>
          <a:prstGeom prst="rect">
            <a:avLst/>
          </a:prstGeom>
          <a:solidFill>
            <a:srgbClr val="FBF0F3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298448"/>
            <a:ext cx="4343400" cy="64008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4447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A2E"/>
                </a:solidFill>
              </a:rPr>
              <a:t>Advisory &amp; Hiring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1874520"/>
            <a:ext cx="39776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1874520"/>
            <a:ext cx="54864" cy="402336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911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Islamic Scholar Advisor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0939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Provides religious validation and scholar endorsement pathway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03720" y="1956816"/>
            <a:ext cx="685800" cy="219456"/>
          </a:xfrm>
          <a:prstGeom prst="rect">
            <a:avLst/>
          </a:prstGeom>
          <a:solidFill>
            <a:srgbClr val="C9973A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95681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973A"/>
                </a:solidFill>
              </a:rPr>
              <a:t>In talks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17720" y="2359152"/>
            <a:ext cx="3977640" cy="402336"/>
          </a:xfrm>
          <a:prstGeom prst="rect">
            <a:avLst/>
          </a:prstGeom>
          <a:solidFill>
            <a:srgbClr val="F5EE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2359152"/>
            <a:ext cx="54864" cy="40233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3957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Head of Growth — GCC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5786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Mosque partnerships, Islamic influencer marketing, GCC market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03720" y="2441448"/>
            <a:ext cx="685800" cy="219456"/>
          </a:xfrm>
          <a:prstGeom prst="rect">
            <a:avLst/>
          </a:prstGeom>
          <a:solidFill>
            <a:srgbClr val="8B1A4A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24414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1A4A"/>
                </a:solidFill>
              </a:rPr>
              <a:t>Hiring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17720" y="2843784"/>
            <a:ext cx="39776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617720" y="2843784"/>
            <a:ext cx="54864" cy="40233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880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Product Designer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063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Arabic-first UX, RTL design, Islamic visual language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03720" y="2926080"/>
            <a:ext cx="685800" cy="219456"/>
          </a:xfrm>
          <a:prstGeom prst="rect">
            <a:avLst/>
          </a:prstGeom>
          <a:solidFill>
            <a:srgbClr val="8B1A4A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29260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1A4A"/>
                </a:solidFill>
              </a:rPr>
              <a:t>Hiring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17720" y="3328416"/>
            <a:ext cx="3977640" cy="402336"/>
          </a:xfrm>
          <a:prstGeom prst="rect">
            <a:avLst/>
          </a:prstGeom>
          <a:solidFill>
            <a:srgbClr val="F5EEF8"/>
          </a:solidFill>
          <a:ln/>
        </p:spPr>
      </p:sp>
      <p:sp>
        <p:nvSpPr>
          <p:cNvPr id="38" name="Shape 36"/>
          <p:cNvSpPr/>
          <p:nvPr/>
        </p:nvSpPr>
        <p:spPr>
          <a:xfrm>
            <a:off x="4617720" y="3328416"/>
            <a:ext cx="54864" cy="40233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3649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0A2E"/>
                </a:solidFill>
              </a:rPr>
              <a:t>Backend Engineer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35478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Scale FastAPI, Agora, real-time systems post-Series 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03720" y="3410712"/>
            <a:ext cx="685800" cy="219456"/>
          </a:xfrm>
          <a:prstGeom prst="rect">
            <a:avLst/>
          </a:prstGeom>
          <a:solidFill>
            <a:srgbClr val="8B1A4A">
              <a:alpha val="8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34107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1A4A"/>
                </a:solidFill>
              </a:rPr>
              <a:t>Hiring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</a:rPr>
              <a:t>What's already been built — solo: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43251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B0D8"/>
                </a:solidFill>
              </a:rPr>
              <a:t>72 REST API endpoints  ·  74 Flutter screens  ·  17-game engine  ·  AI compatibility system  ·  Wali portal  ·  174/174 tests passing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FINANCIALS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80AA"/>
                </a:solidFill>
              </a:rPr>
              <a:t>13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 — 36 months.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070"/>
                </a:solidFill>
              </a:rPr>
              <a:t>Conservative estimates based on comparable Islamic consumer app growth curves.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32588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325880"/>
            <a:ext cx="1463040" cy="804672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13807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73A"/>
                </a:solidFill>
              </a:rPr>
              <a:t>$26 / mo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852160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B0D8"/>
                </a:solidFill>
              </a:rPr>
              <a:t>Blended ARPU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406640" y="1325880"/>
            <a:ext cx="1463040" cy="804672"/>
          </a:xfrm>
          <a:prstGeom prst="rect">
            <a:avLst/>
          </a:prstGeom>
          <a:solidFill>
            <a:srgbClr val="8B1A4A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06640" y="13807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&lt; $18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406640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8E8"/>
                </a:solidFill>
              </a:rPr>
              <a:t>CAC target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852160" y="2286000"/>
            <a:ext cx="1463040" cy="804672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52160" y="23408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73A"/>
                </a:solidFill>
              </a:rPr>
              <a:t>$312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852160" y="2743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B0D8"/>
                </a:solidFill>
              </a:rPr>
              <a:t>LTV estimate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406640" y="2286000"/>
            <a:ext cx="1463040" cy="804672"/>
          </a:xfrm>
          <a:prstGeom prst="rect">
            <a:avLst/>
          </a:prstGeom>
          <a:solidFill>
            <a:srgbClr val="8B1A4A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406640" y="23408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17x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406640" y="2743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8E8"/>
                </a:solidFill>
              </a:rPr>
              <a:t>LTV/CAC ratio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852160" y="3246120"/>
            <a:ext cx="1463040" cy="804672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52160" y="330098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73A"/>
                </a:solidFill>
              </a:rPr>
              <a:t>82%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852160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B0D8"/>
                </a:solidFill>
              </a:rPr>
              <a:t>Gross margin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406640" y="3246120"/>
            <a:ext cx="1463040" cy="804672"/>
          </a:xfrm>
          <a:prstGeom prst="rect">
            <a:avLst/>
          </a:prstGeom>
          <a:solidFill>
            <a:srgbClr val="8B1A4A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406640" y="330098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Month 18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406640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8E8"/>
                </a:solidFill>
              </a:rPr>
              <a:t>Break-even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76200" dist="25400" dir="8100000">
              <a:srgbClr val="1A0A2E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864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73A"/>
                </a:solidFill>
              </a:rPr>
              <a:t>Use of proceeds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4599432"/>
            <a:ext cx="100584" cy="100584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30" name="Text 27"/>
          <p:cNvSpPr/>
          <p:nvPr/>
        </p:nvSpPr>
        <p:spPr>
          <a:xfrm>
            <a:off x="713232" y="4535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40%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Engineering &amp; Product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606040" y="4599432"/>
            <a:ext cx="100584" cy="100584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32" name="Text 29"/>
          <p:cNvSpPr/>
          <p:nvPr/>
        </p:nvSpPr>
        <p:spPr>
          <a:xfrm>
            <a:off x="2770632" y="4535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25%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Growth &amp; Marketing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63440" y="4599432"/>
            <a:ext cx="100584" cy="100584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34" name="Text 31"/>
          <p:cNvSpPr/>
          <p:nvPr/>
        </p:nvSpPr>
        <p:spPr>
          <a:xfrm>
            <a:off x="4828032" y="4535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20%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Operations &amp; Legal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720840" y="4599432"/>
            <a:ext cx="100584" cy="100584"/>
          </a:xfrm>
          <a:prstGeom prst="oval">
            <a:avLst/>
          </a:prstGeom>
          <a:solidFill>
            <a:srgbClr val="8B1A4A"/>
          </a:solidFill>
          <a:ln/>
        </p:spPr>
      </p:sp>
      <p:sp>
        <p:nvSpPr>
          <p:cNvPr id="36" name="Text 33"/>
          <p:cNvSpPr/>
          <p:nvPr/>
        </p:nvSpPr>
        <p:spPr>
          <a:xfrm>
            <a:off x="6885432" y="4535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15%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Working Capital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21429"/>
            </a:avLst>
          </a:prstGeom>
          <a:solidFill>
            <a:srgbClr val="8B1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THE ASK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14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0" y="457200"/>
            <a:ext cx="4572000" cy="4572000"/>
          </a:xfrm>
          <a:prstGeom prst="oval">
            <a:avLst/>
          </a:prstGeom>
          <a:solidFill>
            <a:srgbClr val="8B1A4A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48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B0D8"/>
                </a:solidFill>
              </a:rPr>
              <a:t>We are raising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0B0D8"/>
                </a:solidFill>
              </a:rPr>
              <a:t>Pre-Series A  ·  SAFE or Convertible Note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27432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80A8"/>
                </a:solidFill>
              </a:rPr>
              <a:t>Round size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$1,200,000 USD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5120640" cy="9144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80A8"/>
                </a:solidFill>
              </a:rPr>
              <a:t>Instrument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 / Convertible Note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5120640" cy="9144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18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80A8"/>
                </a:solidFill>
              </a:rPr>
              <a:t>Valuation cap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118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$6,000,000 pre-money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92424"/>
            <a:ext cx="5120640" cy="9144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19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80A8"/>
                </a:solidFill>
              </a:rPr>
              <a:t>Discount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419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20% at next priced round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94176"/>
            <a:ext cx="5120640" cy="9144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80A8"/>
                </a:solidFill>
              </a:rPr>
              <a:t>Minimum ticket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3721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$50,000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95928"/>
            <a:ext cx="5120640" cy="9144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80A8"/>
                </a:solidFill>
              </a:rPr>
              <a:t>Use of funds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· Growth · Team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5120640" cy="9144"/>
          </a:xfrm>
          <a:prstGeom prst="rect">
            <a:avLst/>
          </a:prstGeom>
          <a:solidFill>
            <a:srgbClr val="3D2A5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80A8"/>
                </a:solidFill>
              </a:rPr>
              <a:t>Target close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4325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 2025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60720" y="594360"/>
            <a:ext cx="3017520" cy="4297680"/>
          </a:xfrm>
          <a:prstGeom prst="rect">
            <a:avLst/>
          </a:prstGeom>
          <a:solidFill>
            <a:srgbClr val="2D1459"/>
          </a:solidFill>
          <a:ln/>
          <a:effectLst>
            <a:outerShdw sx="100000" sy="100000" kx="0" ky="0" algn="bl" rotWithShape="0" blurRad="152400" dist="50800" dir="8100000">
              <a:srgbClr val="1A0A2E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594360"/>
            <a:ext cx="3017520" cy="54864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713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3A"/>
                </a:solidFill>
              </a:rPr>
              <a:t>This round unlocks: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0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App Store &amp; Play Store launch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0" y="14630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Firebase + Agora production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43600" y="18470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Mosque partnership programme — 50 cities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0" y="22311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GCC marketing campaign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0" y="26151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Head of Growth hire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43600" y="29992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Islamic scholar advisory 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43600" y="33832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100,000 registered users by month 12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43600" y="37673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73A"/>
                </a:solidFill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C0B0D8"/>
                </a:solidFill>
              </a:rPr>
              <a:t>Series A readiness — Month 18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motasem@noordigitallabs.com  ·  miskmatch.app  ·  Amman, Jordan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6400800" cy="6400800"/>
          </a:xfrm>
          <a:prstGeom prst="oval">
            <a:avLst/>
          </a:prstGeom>
          <a:solidFill>
            <a:srgbClr val="8B1A4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828800"/>
            <a:ext cx="7315200" cy="7315200"/>
          </a:xfrm>
          <a:prstGeom prst="oval">
            <a:avLst/>
          </a:prstGeom>
          <a:solidFill>
            <a:srgbClr val="2D145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960120"/>
            <a:ext cx="2011680" cy="2011680"/>
          </a:xfrm>
          <a:prstGeom prst="oval">
            <a:avLst/>
          </a:prstGeom>
          <a:solidFill>
            <a:srgbClr val="8B1A4A"/>
          </a:solidFill>
          <a:ln/>
          <a:effectLst>
            <a:outerShdw sx="100000" sy="100000" kx="0" ky="0" algn="bl" rotWithShape="0" blurRad="177800" dist="50800" dir="8100000">
              <a:srgbClr val="C9973A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960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مـ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ختامه مسك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E0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"And its seal is musk."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245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80A8"/>
                </a:solidFill>
              </a:rPr>
              <a:t>— The Holy Quran, 83:26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4617720"/>
            <a:ext cx="4572000" cy="18288"/>
          </a:xfrm>
          <a:prstGeom prst="rect">
            <a:avLst/>
          </a:prstGeom>
          <a:solidFill>
            <a:srgbClr val="8B1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00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B0D8"/>
                </a:solidFill>
              </a:rPr>
              <a:t>The platform that marries technology with taqwa.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974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4070"/>
                </a:solidFill>
              </a:rPr>
              <a:t>MiskMatch  ·  Noor Digital Labs  ·  2025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MiskMatch — Investor Pitch Deck</dc:title>
  <dc:subject>Series A Fundraising — Islamic Matrimony Platform</dc:subject>
  <dc:creator>Motasem — Noor Digital Labs</dc:creator>
  <cp:lastModifiedBy>Motasem — Noor Digital Labs</cp:lastModifiedBy>
  <cp:revision>1</cp:revision>
  <dcterms:created xsi:type="dcterms:W3CDTF">2026-04-06T21:18:29Z</dcterms:created>
  <dcterms:modified xsi:type="dcterms:W3CDTF">2026-04-06T21:18:29Z</dcterms:modified>
</cp:coreProperties>
</file>